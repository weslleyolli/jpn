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772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0"/>
            <a:ext cx="12188952" cy="807720"/>
          </a:xfrm>
          <a:prstGeom prst="rect">
            <a:avLst/>
          </a:prstGeom>
          <a:solidFill>
            <a:srgbClr val="0D0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24000"/>
            <a:ext cx="12188952" cy="807720"/>
          </a:xfrm>
          <a:prstGeom prst="rect">
            <a:avLst/>
          </a:prstGeom>
          <a:solidFill>
            <a:srgbClr val="100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2188952" cy="807720"/>
          </a:xfrm>
          <a:prstGeom prst="rect">
            <a:avLst/>
          </a:prstGeom>
          <a:solidFill>
            <a:srgbClr val="131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048000"/>
            <a:ext cx="12188952" cy="807720"/>
          </a:xfrm>
          <a:prstGeom prst="rect">
            <a:avLst/>
          </a:prstGeom>
          <a:solidFill>
            <a:srgbClr val="16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810000"/>
            <a:ext cx="12188952" cy="807720"/>
          </a:xfrm>
          <a:prstGeom prst="rect">
            <a:avLst/>
          </a:prstGeom>
          <a:solidFill>
            <a:srgbClr val="191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2188952" cy="807720"/>
          </a:xfrm>
          <a:prstGeom prst="rect">
            <a:avLst/>
          </a:prstGeom>
          <a:solidFill>
            <a:srgbClr val="1C1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334000"/>
            <a:ext cx="12188952" cy="807720"/>
          </a:xfrm>
          <a:prstGeom prst="rect">
            <a:avLst/>
          </a:prstGeom>
          <a:solidFill>
            <a:srgbClr val="1F1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096000"/>
            <a:ext cx="12188952" cy="807720"/>
          </a:xfrm>
          <a:prstGeom prst="rect">
            <a:avLst/>
          </a:prstGeom>
          <a:solidFill>
            <a:srgbClr val="221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7" y="0"/>
            <a:ext cx="1371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0"/>
            <a:ext cx="137160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85832" y="365760"/>
            <a:ext cx="1645920" cy="164592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14432" y="594360"/>
            <a:ext cx="1188720" cy="11887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61320" y="841248"/>
            <a:ext cx="694944" cy="69494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0776" y="1060704"/>
            <a:ext cx="256032" cy="256032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25712" y="5349240"/>
            <a:ext cx="1005840" cy="10058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08592" y="5532120"/>
            <a:ext cx="640080" cy="640080"/>
          </a:xfrm>
          <a:prstGeom prst="ellipse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5733288"/>
            <a:ext cx="237744" cy="237744"/>
          </a:xfrm>
          <a:prstGeom prst="ellipse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349240"/>
            <a:ext cx="822960" cy="82296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5504688"/>
            <a:ext cx="512064" cy="512064"/>
          </a:xfrm>
          <a:prstGeom prst="ellipse">
            <a:avLst/>
          </a:prstGeom>
          <a:solidFill>
            <a:srgbClr val="05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B0C4DE"/>
                </a:solidFill>
                <a:latin typeface="Segoe UI"/>
              </a:rPr>
              <a:t>ROTEIRO DE VIAGEM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828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E03070"/>
                </a:solidFill>
                <a:latin typeface="Segoe UI"/>
              </a:rPr>
              <a:t>TOKYO  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4290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B0C4DE"/>
                </a:solidFill>
                <a:latin typeface="Segoe UI"/>
              </a:rPr>
              <a:t>22 de Abril  →  30 de Abril  •  9 dias de aventura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251960"/>
            <a:ext cx="3063240" cy="5303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7024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1010"/>
                </a:solidFill>
                <a:latin typeface="Segoe UI"/>
              </a:rPr>
              <a:t>⚡ Pokemon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251960"/>
            <a:ext cx="3063240" cy="5303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27024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1010"/>
                </a:solidFill>
                <a:latin typeface="Segoe UI"/>
              </a:rPr>
              <a:t>🍥 Naruto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4251960"/>
            <a:ext cx="3063240" cy="5303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427024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1010"/>
                </a:solidFill>
                <a:latin typeface="Segoe UI"/>
              </a:rPr>
              <a:t>🩸 Jujutsu Kaisen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518"/>
                </a:solidFill>
                <a:latin typeface="Segoe UI"/>
              </a:rPr>
              <a:t>Japan  •  Abril/2025  •  Uma aventura digna de protagonista de anime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  <a:latin typeface="Segoe UI"/>
              </a:rPr>
              <a:t>⚡  MAPA DA AVENTURA  —  9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89888"/>
            <a:ext cx="1234440" cy="5303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44752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22/04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6192" y="1389888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14447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🏯 Senso-ji • Ueno • Asakusa • Sky Tree • Ikebukuro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88819"/>
            <a:ext cx="123444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43683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23/04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6192" y="1988819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2043683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⚡ Pokemon Center • Harajuku • Takeshita • Kiddy Land • Shinjuku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87752"/>
            <a:ext cx="1234440" cy="5303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42616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24/04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6192" y="2587752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" y="26426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🤖 Robot Café • Tokyo Tower • Ginza • TeamLab Planets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86684"/>
            <a:ext cx="1234440" cy="5303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4154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25/04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6192" y="3186684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32415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🛍️ Shibuya • Capcom/Nintendo/Pokemon • Shibuya Sky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85616"/>
            <a:ext cx="1234440" cy="5303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840480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26/04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6192" y="3785616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64208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🚄 BATE-VOLTA KYOTO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4548"/>
            <a:ext cx="1234440" cy="530352"/>
          </a:xfrm>
          <a:prstGeom prst="rect">
            <a:avLst/>
          </a:prstGeom>
          <a:solidFill>
            <a:srgbClr val="00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439412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27/04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6192" y="4384548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64208" y="44394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🏰 TOKYO DISNEYLAND — do opening ao fechamento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1234440" cy="530352"/>
          </a:xfrm>
          <a:prstGeom prst="rect">
            <a:avLst/>
          </a:prstGeom>
          <a:solidFill>
            <a:srgbClr val="00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03834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28/04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6192" y="4983480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64208" y="50383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🌊 TOKYO DISNEYSEA — do opening ao fechamento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82412"/>
            <a:ext cx="1234440" cy="5303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37276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29/04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36192" y="5582412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64208" y="56372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🎮 Akihabara • Rolê livre em grupo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181344"/>
            <a:ext cx="1234440" cy="530352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23620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1010"/>
                </a:solidFill>
                <a:latin typeface="Segoe UI"/>
              </a:rPr>
              <a:t>30/04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" y="6181344"/>
            <a:ext cx="9875520" cy="53035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64208" y="62362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080"/>
                </a:solidFill>
                <a:latin typeface="Segoe UI"/>
              </a:rPr>
              <a:t>🗻 Monte Fuji • Fuji-Q Highland  →  Osaka de Shinkansen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Segoe UI"/>
              </a:rPr>
              <a:t>Gotta go 'em all places!  •  9 dias de pura aventura japonesa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5577"/>
          </a:xfrm>
          <a:prstGeom prst="rect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857"/>
            <a:ext cx="12188952" cy="535577"/>
          </a:xfrm>
          <a:prstGeom prst="rect">
            <a:avLst/>
          </a:prstGeom>
          <a:solidFill>
            <a:srgbClr val="15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9714"/>
            <a:ext cx="12188952" cy="535577"/>
          </a:xfrm>
          <a:prstGeom prst="rect">
            <a:avLst/>
          </a:prstGeom>
          <a:solidFill>
            <a:srgbClr val="180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9571"/>
            <a:ext cx="12188952" cy="535577"/>
          </a:xfrm>
          <a:prstGeom prst="rect">
            <a:avLst/>
          </a:prstGeom>
          <a:solidFill>
            <a:srgbClr val="1B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59428"/>
            <a:ext cx="12188952" cy="535577"/>
          </a:xfrm>
          <a:prstGeom prst="rect">
            <a:avLst/>
          </a:prstGeom>
          <a:solidFill>
            <a:srgbClr val="1E0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449285"/>
            <a:ext cx="12188952" cy="535577"/>
          </a:xfrm>
          <a:prstGeom prst="rect">
            <a:avLst/>
          </a:prstGeom>
          <a:solidFill>
            <a:srgbClr val="21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939142"/>
            <a:ext cx="12188952" cy="535577"/>
          </a:xfrm>
          <a:prstGeom prst="rect">
            <a:avLst/>
          </a:prstGeom>
          <a:solidFill>
            <a:srgbClr val="240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429000"/>
            <a:ext cx="12188952" cy="535577"/>
          </a:xfrm>
          <a:prstGeom prst="rect">
            <a:avLst/>
          </a:prstGeom>
          <a:solidFill>
            <a:srgbClr val="27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918857"/>
            <a:ext cx="12188952" cy="535577"/>
          </a:xfrm>
          <a:prstGeom prst="rect">
            <a:avLst/>
          </a:prstGeom>
          <a:solidFill>
            <a:srgbClr val="2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408714"/>
            <a:ext cx="12188952" cy="535577"/>
          </a:xfrm>
          <a:prstGeom prst="rect">
            <a:avLst/>
          </a:prstGeom>
          <a:solidFill>
            <a:srgbClr val="2D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898571"/>
            <a:ext cx="12188952" cy="535577"/>
          </a:xfrm>
          <a:prstGeom prst="rect">
            <a:avLst/>
          </a:prstGeom>
          <a:solidFill>
            <a:srgbClr val="30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88428"/>
            <a:ext cx="12188952" cy="535577"/>
          </a:xfrm>
          <a:prstGeom prst="rect">
            <a:avLst/>
          </a:prstGeom>
          <a:solidFill>
            <a:srgbClr val="33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878285"/>
            <a:ext cx="12188952" cy="535577"/>
          </a:xfrm>
          <a:prstGeom prst="rect">
            <a:avLst/>
          </a:prstGeom>
          <a:solidFill>
            <a:srgbClr val="36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368142"/>
            <a:ext cx="12188952" cy="535577"/>
          </a:xfrm>
          <a:prstGeom prst="rect">
            <a:avLst/>
          </a:prstGeom>
          <a:solidFill>
            <a:srgbClr val="39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61904" y="182880"/>
            <a:ext cx="950976" cy="950976"/>
          </a:xfrm>
          <a:prstGeom prst="ellipse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6496" y="347472"/>
            <a:ext cx="621792" cy="621792"/>
          </a:xfrm>
          <a:prstGeom prst="ellipse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18520" y="539496"/>
            <a:ext cx="237744" cy="237744"/>
          </a:xfrm>
          <a:prstGeom prst="ellipse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86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20700"/>
                </a:solidFill>
                <a:latin typeface="Segoe UI"/>
              </a:rPr>
              <a:t>22/04 (TER)  —  SENSO-JI • UENO • ASAKUSA • SKY TREE • IKEBUKURO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Primeira imersão na Tokyo tradicional e moderna!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1609344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🏯  Templo Senso-ji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Templo budista mais antigo de Tokyo — chegue cedo para evitar filas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450592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77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👀  Asakusa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Bairro histórico ao redor do templo: ruelas, quimonos e artesanato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291840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186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🌳  Ueno Park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Parque enorme com museus, zoológico e natureza no coração da cidade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133088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5993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🗼  Tokyo Sky Tree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634m de altura — a torre mais alta do Japão com vista 360°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974336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90118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🎨  Ikebukuro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Bairro animado: Sunshine City, lojas de anime e vida local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815584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7424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🍣  Kura Sushi 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Sushi giratório com preços ótimos — experiência clássica japonesa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0700"/>
                </a:solidFill>
                <a:latin typeface="Segoe UI"/>
              </a:rPr>
              <a:t>Dattebayo!  —  Primeiro dia de missão ninja em Tokyo!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28016"/>
            <a:ext cx="1060704" cy="10607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71048" y="146304"/>
            <a:ext cx="1024128" cy="102412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71048" y="621792"/>
            <a:ext cx="102412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8520" y="49377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73384" y="548640"/>
            <a:ext cx="219456" cy="219456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2E"/>
                </a:solidFill>
                <a:latin typeface="Segoe UI"/>
              </a:rPr>
              <a:t>23/04 (QUA)  —  POKEMON CENTER • HARAJUKU • SHINJUKU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Gotta catch 'em all — figurinhas, moda e néon!</a:t>
            </a:r>
          </a:p>
        </p:txBody>
      </p:sp>
      <p:sp>
        <p:nvSpPr>
          <p:cNvPr id="11" name="Oval 10"/>
          <p:cNvSpPr/>
          <p:nvPr/>
        </p:nvSpPr>
        <p:spPr>
          <a:xfrm>
            <a:off x="411479" y="1664208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⚡  Pokemon Center Mega Tokyo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Loja oficial com exclusivos, pelúcias, TCG e colecionáveis raros</a:t>
            </a:r>
          </a:p>
        </p:txBody>
      </p:sp>
      <p:sp>
        <p:nvSpPr>
          <p:cNvPr id="14" name="Oval 13"/>
          <p:cNvSpPr/>
          <p:nvPr/>
        </p:nvSpPr>
        <p:spPr>
          <a:xfrm>
            <a:off x="411479" y="2505456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🎀  Harajuku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Moda alternativa, cultura kawaii e cosplay nas ruas</a:t>
            </a:r>
          </a:p>
        </p:txBody>
      </p:sp>
      <p:sp>
        <p:nvSpPr>
          <p:cNvPr id="17" name="Oval 16"/>
          <p:cNvSpPr/>
          <p:nvPr/>
        </p:nvSpPr>
        <p:spPr>
          <a:xfrm>
            <a:off x="411479" y="3346704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👕  Takeshita Street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A rua mais colorida de Tokyo — crepes, lojas kawaii e moda única</a:t>
            </a:r>
          </a:p>
        </p:txBody>
      </p:sp>
      <p:sp>
        <p:nvSpPr>
          <p:cNvPr id="20" name="Oval 19"/>
          <p:cNvSpPr/>
          <p:nvPr/>
        </p:nvSpPr>
        <p:spPr>
          <a:xfrm>
            <a:off x="411479" y="4187952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🧸  Kiddy 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5 andares de brinquedos, figures, Hello Kitty e personagens</a:t>
            </a:r>
          </a:p>
        </p:txBody>
      </p:sp>
      <p:sp>
        <p:nvSpPr>
          <p:cNvPr id="23" name="Oval 22"/>
          <p:cNvSpPr/>
          <p:nvPr/>
        </p:nvSpPr>
        <p:spPr>
          <a:xfrm>
            <a:off x="411479" y="5029200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✨  Shinjuku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Bairro que não dorme: luzes de néon, Golden Gai e Kabukicho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Segoe UI"/>
              </a:rPr>
              <a:t>Você é o treinador mais preparado de Tokyo!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29968" cy="6858000"/>
          </a:xfrm>
          <a:prstGeom prst="rect">
            <a:avLst/>
          </a:prstGeom>
          <a:solidFill>
            <a:srgbClr val="0D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57400" y="0"/>
            <a:ext cx="2029968" cy="6858000"/>
          </a:xfrm>
          <a:prstGeom prst="rect">
            <a:avLst/>
          </a:prstGeom>
          <a:solidFill>
            <a:srgbClr val="13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029968" cy="6858000"/>
          </a:xfrm>
          <a:prstGeom prst="rect">
            <a:avLst/>
          </a:prstGeom>
          <a:solidFill>
            <a:srgbClr val="190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0"/>
            <a:ext cx="2029968" cy="6858000"/>
          </a:xfrm>
          <a:prstGeom prst="rect">
            <a:avLst/>
          </a:prstGeom>
          <a:solidFill>
            <a:srgbClr val="1F0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0"/>
            <a:ext cx="2029968" cy="6858000"/>
          </a:xfrm>
          <a:prstGeom prst="rect">
            <a:avLst/>
          </a:prstGeom>
          <a:solidFill>
            <a:srgbClr val="250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87000" y="0"/>
            <a:ext cx="2029968" cy="6858000"/>
          </a:xfrm>
          <a:prstGeom prst="rect">
            <a:avLst/>
          </a:prstGeom>
          <a:solidFill>
            <a:srgbClr val="2B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07624" y="182880"/>
            <a:ext cx="950976" cy="950976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53928" y="329184"/>
            <a:ext cx="658368" cy="658368"/>
          </a:xfrm>
          <a:prstGeom prst="ellipse">
            <a:avLst/>
          </a:prstGeom>
          <a:solidFill>
            <a:srgbClr val="05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502920"/>
            <a:ext cx="310896" cy="310896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8A2BE2"/>
                </a:solidFill>
                <a:latin typeface="Segoe UI"/>
              </a:rPr>
              <a:t>24/04 (QUI)  —  ROBOT CAFÉ • TOKYO TOWER • GINZA • TEAMLAB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Energia amaldicoada de arte, tecnologia e neon!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1627632"/>
            <a:ext cx="64008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🤖  Dawn Robot Café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93D8"/>
                </a:solidFill>
                <a:latin typeface="Segoe UI"/>
              </a:rPr>
              <a:t>Café operado por robôs — tecnologia japonesa do futuro num copo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468880"/>
            <a:ext cx="64008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🗼  Tokyo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93D8"/>
                </a:solidFill>
                <a:latin typeface="Segoe UI"/>
              </a:rPr>
              <a:t>Ícone vermelho e branco de Tokyo — vista clássica da cidade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3310128"/>
            <a:ext cx="64008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🛍️  Ginza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93D8"/>
                </a:solidFill>
                <a:latin typeface="Segoe UI"/>
              </a:rPr>
              <a:t>O bairro mais sofisticado: lojas de grife, galerias e arquitetura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151376"/>
            <a:ext cx="64008" cy="4754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🎨  TeamLab Planets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93D8"/>
                </a:solidFill>
                <a:latin typeface="Segoe UI"/>
              </a:rPr>
              <a:t>Arte digital imersiva — entra literalmente dentro das obras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00D"/>
                </a:solidFill>
                <a:latin typeface="Segoe UI"/>
              </a:rPr>
              <a:t>"Domínio Expandido" — TeamLab ativa sua melhor técnica proibida!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28016"/>
            <a:ext cx="1060704" cy="10607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71048" y="146304"/>
            <a:ext cx="1024128" cy="102412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71048" y="621792"/>
            <a:ext cx="102412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8520" y="49377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73384" y="548640"/>
            <a:ext cx="219456" cy="219456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2E"/>
                </a:solidFill>
                <a:latin typeface="Segoe UI"/>
              </a:rPr>
              <a:t>25/04 (SEX)  —  SHIBUYA • CAPCOM • NINTENDO • POKEMON • SHIBUYA SKY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Capturando todos os itens raros de Tokyo!</a:t>
            </a:r>
          </a:p>
        </p:txBody>
      </p:sp>
      <p:sp>
        <p:nvSpPr>
          <p:cNvPr id="11" name="Oval 10"/>
          <p:cNvSpPr/>
          <p:nvPr/>
        </p:nvSpPr>
        <p:spPr>
          <a:xfrm>
            <a:off x="411479" y="1664208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🛍️  Shibuya — Mecca das compras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O bairro mais movimentado do mundo — cada canto é fotogênico</a:t>
            </a:r>
          </a:p>
        </p:txBody>
      </p:sp>
      <p:sp>
        <p:nvSpPr>
          <p:cNvPr id="14" name="Oval 13"/>
          <p:cNvSpPr/>
          <p:nvPr/>
        </p:nvSpPr>
        <p:spPr>
          <a:xfrm>
            <a:off x="411479" y="2505456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🎮  Capcom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Loja oficial da Capcom: Street Fighter, Monster Hunter, Resident Evil</a:t>
            </a:r>
          </a:p>
        </p:txBody>
      </p:sp>
      <p:sp>
        <p:nvSpPr>
          <p:cNvPr id="17" name="Oval 16"/>
          <p:cNvSpPr/>
          <p:nvPr/>
        </p:nvSpPr>
        <p:spPr>
          <a:xfrm>
            <a:off x="411479" y="3346704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🕹️  Nintendo TOKYO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Única loja Nintendo do Japão — exclusivos, merchandise e edições limitadas</a:t>
            </a:r>
          </a:p>
        </p:txBody>
      </p:sp>
      <p:sp>
        <p:nvSpPr>
          <p:cNvPr id="20" name="Oval 19"/>
          <p:cNvSpPr/>
          <p:nvPr/>
        </p:nvSpPr>
        <p:spPr>
          <a:xfrm>
            <a:off x="411479" y="4187952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⚡  Pokemon Center Shibuya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Mais uma oportunidade para aquela card rara que faltou!</a:t>
            </a:r>
          </a:p>
        </p:txBody>
      </p:sp>
      <p:sp>
        <p:nvSpPr>
          <p:cNvPr id="23" name="Oval 22"/>
          <p:cNvSpPr/>
          <p:nvPr/>
        </p:nvSpPr>
        <p:spPr>
          <a:xfrm>
            <a:off x="411479" y="5029200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🌆  Shibuya Sky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Terraço aberto no topo do Scramble Square — pôr do sol sobre Tokyo</a:t>
            </a:r>
          </a:p>
        </p:txBody>
      </p:sp>
      <p:sp>
        <p:nvSpPr>
          <p:cNvPr id="26" name="Oval 25"/>
          <p:cNvSpPr/>
          <p:nvPr/>
        </p:nvSpPr>
        <p:spPr>
          <a:xfrm>
            <a:off x="411479" y="5870448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🚸  Shibuya Scramble Crossing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O cruzamento mais famoso do mundo — foto obrigatória!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Segoe UI"/>
              </a:rPr>
              <a:t>Crédito no cartão? Sim. Arrependimento? Nunca!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731520"/>
          </a:xfrm>
          <a:prstGeom prst="rect">
            <a:avLst/>
          </a:prstGeom>
          <a:solidFill>
            <a:srgbClr val="1E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solidFill>
            <a:srgbClr val="22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12188952" cy="731520"/>
          </a:xfrm>
          <a:prstGeom prst="rect">
            <a:avLst/>
          </a:prstGeom>
          <a:solidFill>
            <a:srgbClr val="26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solidFill>
            <a:srgbClr val="2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solidFill>
            <a:srgbClr val="2E3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solidFill>
            <a:srgbClr val="323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12188952" cy="731520"/>
          </a:xfrm>
          <a:prstGeom prst="rect">
            <a:avLst/>
          </a:prstGeom>
          <a:solidFill>
            <a:srgbClr val="363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3A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731520"/>
          </a:xfrm>
          <a:prstGeom prst="rect">
            <a:avLst/>
          </a:prstGeom>
          <a:solidFill>
            <a:srgbClr val="3E4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07624" y="182880"/>
            <a:ext cx="950976" cy="950976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53928" y="329184"/>
            <a:ext cx="658368" cy="658368"/>
          </a:xfrm>
          <a:prstGeom prst="ellipse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27664" y="502920"/>
            <a:ext cx="310896" cy="310896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A5D6A7"/>
                </a:solidFill>
                <a:latin typeface="Segoe UI"/>
              </a:rPr>
              <a:t>26/04 (SAB)  —  BATE-VOLTA KYOTO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 antiga capital do Japão — templos, bambus e historia milenar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1627632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🚄  Shinkansen Tokyo → Kyoto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~2h15 de trem bala — use o JR Pass, sai de Shinagawa ou Tokyo Station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2468880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⛩️  Fushimi Inari Taisha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Miles de portais torii vermelhos subindo a montanha — fotogênico ao maximo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3310128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🎋  Bosque de Bamboo (Arashiyama)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O famoso corredor de bambus que parece outro mundo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151376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🏯  Kinkaku-ji (Templo Dourado)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Pavilhao coberto de folhas de ouro refletido no lago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4992624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🍵  Chado — cerimonia do 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Experience autentica de cha matcha em Gion (opcional)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5833872"/>
            <a:ext cx="6400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🚄  Kyoto → Tokyo de volta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  <a:latin typeface="Segoe UI"/>
              </a:rPr>
              <a:t>Retorno no fim da tarde para descansar antes da Disney!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 trem bala ida e volta — Kyoto em um dia e voltando com a alma cheia!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731520"/>
          </a:xfrm>
          <a:prstGeom prst="rect">
            <a:avLst/>
          </a:prstGeom>
          <a:solidFill>
            <a:srgbClr val="003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solidFill>
            <a:srgbClr val="003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12188952" cy="731520"/>
          </a:xfrm>
          <a:prstGeom prst="rect">
            <a:avLst/>
          </a:prstGeom>
          <a:solidFill>
            <a:srgbClr val="003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solidFill>
            <a:srgbClr val="003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solidFill>
            <a:srgbClr val="002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solidFill>
            <a:srgbClr val="002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12188952" cy="731520"/>
          </a:xfrm>
          <a:prstGeom prst="rect">
            <a:avLst/>
          </a:prstGeom>
          <a:solidFill>
            <a:srgbClr val="002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002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731520"/>
          </a:xfrm>
          <a:prstGeom prst="rect">
            <a:avLst/>
          </a:prstGeom>
          <a:solidFill>
            <a:srgbClr val="0022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09960" y="585216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36808" y="585216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63656" y="585216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90504" y="585216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0" y="219456"/>
            <a:ext cx="877824" cy="87782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08792" y="384048"/>
            <a:ext cx="548640" cy="548640"/>
          </a:xfrm>
          <a:prstGeom prst="ellipse">
            <a:avLst/>
          </a:prstGeom>
          <a:solidFill>
            <a:srgbClr val="00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3384" y="548640"/>
            <a:ext cx="219456" cy="21945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D700"/>
                </a:solidFill>
                <a:latin typeface="Segoe UI"/>
              </a:rPr>
              <a:t>27/04 (DOM)  —  TOKYO DISNEYLAND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Do opening ao fechamento — so Disney, nada mais!</a:t>
            </a:r>
          </a:p>
        </p:txBody>
      </p:sp>
      <p:sp>
        <p:nvSpPr>
          <p:cNvPr id="23" name="Oval 22"/>
          <p:cNvSpPr/>
          <p:nvPr/>
        </p:nvSpPr>
        <p:spPr>
          <a:xfrm>
            <a:off x="393191" y="1645920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🎟️  Opening → Fechamento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Aproveite cada minuto — chegue antes da abertura para pegar as filas menores</a:t>
            </a:r>
          </a:p>
        </p:txBody>
      </p:sp>
      <p:sp>
        <p:nvSpPr>
          <p:cNvPr id="26" name="Oval 25"/>
          <p:cNvSpPr/>
          <p:nvPr/>
        </p:nvSpPr>
        <p:spPr>
          <a:xfrm>
            <a:off x="393191" y="2487168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🎢  Space Mountain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A montanha-russa no escuro — classico absoluto da Disney</a:t>
            </a:r>
          </a:p>
        </p:txBody>
      </p:sp>
      <p:sp>
        <p:nvSpPr>
          <p:cNvPr id="29" name="Oval 28"/>
          <p:cNvSpPr/>
          <p:nvPr/>
        </p:nvSpPr>
        <p:spPr>
          <a:xfrm>
            <a:off x="393191" y="3328416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🎠  Fantasyland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O coração magico do parque: castelo, carrosséis e atrações temáticas</a:t>
            </a:r>
          </a:p>
        </p:txBody>
      </p:sp>
      <p:sp>
        <p:nvSpPr>
          <p:cNvPr id="32" name="Oval 31"/>
          <p:cNvSpPr/>
          <p:nvPr/>
        </p:nvSpPr>
        <p:spPr>
          <a:xfrm>
            <a:off x="393191" y="4169664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🌟  Tomorrowland &amp; Toontown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Futurismo da Disney + encontro com personagens classicos</a:t>
            </a:r>
          </a:p>
        </p:txBody>
      </p:sp>
      <p:sp>
        <p:nvSpPr>
          <p:cNvPr id="35" name="Oval 34"/>
          <p:cNvSpPr/>
          <p:nvPr/>
        </p:nvSpPr>
        <p:spPr>
          <a:xfrm>
            <a:off x="393191" y="5010912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🎭  Shows e Parades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Electrical Parade e shows ao vivo — nao perca o desfile!</a:t>
            </a:r>
          </a:p>
        </p:txBody>
      </p:sp>
      <p:sp>
        <p:nvSpPr>
          <p:cNvPr id="38" name="Oval 37"/>
          <p:cNvSpPr/>
          <p:nvPr/>
        </p:nvSpPr>
        <p:spPr>
          <a:xfrm>
            <a:off x="393191" y="5852160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🍔  Alimentacao no parque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Segoe UI"/>
              </a:rPr>
              <a:t>Turkey leg, Mickey waffles e os exclusivos da Disney Japan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4D"/>
                </a:solidFill>
                <a:latin typeface="Segoe UI"/>
              </a:rPr>
              <a:t>O dia mais magico da viagem — nenhum adulto envergonha de se emocionar!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731520"/>
          </a:xfrm>
          <a:prstGeom prst="rect">
            <a:avLst/>
          </a:prstGeom>
          <a:solidFill>
            <a:srgbClr val="00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solidFill>
            <a:srgbClr val="00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12188952" cy="731520"/>
          </a:xfrm>
          <a:prstGeom prst="rect">
            <a:avLst/>
          </a:prstGeom>
          <a:solidFill>
            <a:srgbClr val="004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solidFill>
            <a:srgbClr val="004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solidFill>
            <a:srgbClr val="003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solidFill>
            <a:srgbClr val="00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12188952" cy="731520"/>
          </a:xfrm>
          <a:prstGeom prst="rect">
            <a:avLst/>
          </a:prstGeom>
          <a:solidFill>
            <a:srgbClr val="003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003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731520"/>
          </a:xfrm>
          <a:prstGeom prst="rect">
            <a:avLst/>
          </a:prstGeom>
          <a:solidFill>
            <a:srgbClr val="003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09960" y="585216"/>
            <a:ext cx="146304" cy="14630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36808" y="585216"/>
            <a:ext cx="146304" cy="14630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63656" y="585216"/>
            <a:ext cx="146304" cy="14630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90504" y="585216"/>
            <a:ext cx="146304" cy="14630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0" y="219456"/>
            <a:ext cx="877824" cy="8778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08792" y="384048"/>
            <a:ext cx="548640" cy="548640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3384" y="548640"/>
            <a:ext cx="219456" cy="2194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0C8FF"/>
                </a:solidFill>
                <a:latin typeface="Segoe UI"/>
              </a:rPr>
              <a:t>28/04 (SEG)  —  TOKYO DISNEYSEA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Do opening ao fechamento — so DisneySea, nada mais!</a:t>
            </a:r>
          </a:p>
        </p:txBody>
      </p:sp>
      <p:sp>
        <p:nvSpPr>
          <p:cNvPr id="23" name="Oval 22"/>
          <p:cNvSpPr/>
          <p:nvPr/>
        </p:nvSpPr>
        <p:spPr>
          <a:xfrm>
            <a:off x="393191" y="1645920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🎟️  Opening → Fechamento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DisneySea: o parque mais bonito do mundo (segundo os fas!)</a:t>
            </a:r>
          </a:p>
        </p:txBody>
      </p:sp>
      <p:sp>
        <p:nvSpPr>
          <p:cNvPr id="26" name="Oval 25"/>
          <p:cNvSpPr/>
          <p:nvPr/>
        </p:nvSpPr>
        <p:spPr>
          <a:xfrm>
            <a:off x="393191" y="2487168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🌊  Mediterranean Harbor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A entrada mais fotogenica de qualquer parque de diversoes</a:t>
            </a:r>
          </a:p>
        </p:txBody>
      </p:sp>
      <p:sp>
        <p:nvSpPr>
          <p:cNvPr id="29" name="Oval 28"/>
          <p:cNvSpPr/>
          <p:nvPr/>
        </p:nvSpPr>
        <p:spPr>
          <a:xfrm>
            <a:off x="393191" y="3328416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🗺️  Indiana Jones Adventure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Aventura classica em templo misterioso — fila vale a pena</a:t>
            </a:r>
          </a:p>
        </p:txBody>
      </p:sp>
      <p:sp>
        <p:nvSpPr>
          <p:cNvPr id="32" name="Oval 31"/>
          <p:cNvSpPr/>
          <p:nvPr/>
        </p:nvSpPr>
        <p:spPr>
          <a:xfrm>
            <a:off x="393191" y="4169664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🐟  Nemo &amp; Friends SeaRider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Imersao subaquatica com projecoes — tecnologia incrivel</a:t>
            </a:r>
          </a:p>
        </p:txBody>
      </p:sp>
      <p:sp>
        <p:nvSpPr>
          <p:cNvPr id="35" name="Oval 34"/>
          <p:cNvSpPr/>
          <p:nvPr/>
        </p:nvSpPr>
        <p:spPr>
          <a:xfrm>
            <a:off x="393191" y="5010912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🏰  Fantasy Springs (novo!)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Area nova de 2024: Frozen, Rapunzel e Peter Pan — exclusivo</a:t>
            </a:r>
          </a:p>
        </p:txBody>
      </p:sp>
      <p:sp>
        <p:nvSpPr>
          <p:cNvPr id="38" name="Oval 37"/>
          <p:cNvSpPr/>
          <p:nvPr/>
        </p:nvSpPr>
        <p:spPr>
          <a:xfrm>
            <a:off x="393191" y="5852160"/>
            <a:ext cx="256032" cy="25603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egoe UI"/>
              </a:rPr>
              <a:t>🎆  Show noturno Believe! Sea of Dreams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E8FF"/>
                </a:solidFill>
                <a:latin typeface="Segoe UI"/>
              </a:rPr>
              <a:t>Fogos + projecoes no Monte Prometheus — encerramento epico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E3C"/>
                </a:solidFill>
                <a:latin typeface="Segoe UI"/>
              </a:rPr>
              <a:t>O parque mais premiado do mundo — guarde cada segundo na memoria!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5577"/>
          </a:xfrm>
          <a:prstGeom prst="rect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857"/>
            <a:ext cx="12188952" cy="535577"/>
          </a:xfrm>
          <a:prstGeom prst="rect">
            <a:avLst/>
          </a:prstGeom>
          <a:solidFill>
            <a:srgbClr val="15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9714"/>
            <a:ext cx="12188952" cy="535577"/>
          </a:xfrm>
          <a:prstGeom prst="rect">
            <a:avLst/>
          </a:prstGeom>
          <a:solidFill>
            <a:srgbClr val="180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9571"/>
            <a:ext cx="12188952" cy="535577"/>
          </a:xfrm>
          <a:prstGeom prst="rect">
            <a:avLst/>
          </a:prstGeom>
          <a:solidFill>
            <a:srgbClr val="1B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59428"/>
            <a:ext cx="12188952" cy="535577"/>
          </a:xfrm>
          <a:prstGeom prst="rect">
            <a:avLst/>
          </a:prstGeom>
          <a:solidFill>
            <a:srgbClr val="1E0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449285"/>
            <a:ext cx="12188952" cy="535577"/>
          </a:xfrm>
          <a:prstGeom prst="rect">
            <a:avLst/>
          </a:prstGeom>
          <a:solidFill>
            <a:srgbClr val="21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939142"/>
            <a:ext cx="12188952" cy="535577"/>
          </a:xfrm>
          <a:prstGeom prst="rect">
            <a:avLst/>
          </a:prstGeom>
          <a:solidFill>
            <a:srgbClr val="240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429000"/>
            <a:ext cx="12188952" cy="535577"/>
          </a:xfrm>
          <a:prstGeom prst="rect">
            <a:avLst/>
          </a:prstGeom>
          <a:solidFill>
            <a:srgbClr val="27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918857"/>
            <a:ext cx="12188952" cy="535577"/>
          </a:xfrm>
          <a:prstGeom prst="rect">
            <a:avLst/>
          </a:prstGeom>
          <a:solidFill>
            <a:srgbClr val="2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408714"/>
            <a:ext cx="12188952" cy="535577"/>
          </a:xfrm>
          <a:prstGeom prst="rect">
            <a:avLst/>
          </a:prstGeom>
          <a:solidFill>
            <a:srgbClr val="2D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898571"/>
            <a:ext cx="12188952" cy="535577"/>
          </a:xfrm>
          <a:prstGeom prst="rect">
            <a:avLst/>
          </a:prstGeom>
          <a:solidFill>
            <a:srgbClr val="30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88428"/>
            <a:ext cx="12188952" cy="535577"/>
          </a:xfrm>
          <a:prstGeom prst="rect">
            <a:avLst/>
          </a:prstGeom>
          <a:solidFill>
            <a:srgbClr val="33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878285"/>
            <a:ext cx="12188952" cy="535577"/>
          </a:xfrm>
          <a:prstGeom prst="rect">
            <a:avLst/>
          </a:prstGeom>
          <a:solidFill>
            <a:srgbClr val="36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368142"/>
            <a:ext cx="12188952" cy="535577"/>
          </a:xfrm>
          <a:prstGeom prst="rect">
            <a:avLst/>
          </a:prstGeom>
          <a:solidFill>
            <a:srgbClr val="39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61904" y="182880"/>
            <a:ext cx="950976" cy="950976"/>
          </a:xfrm>
          <a:prstGeom prst="ellipse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6496" y="347472"/>
            <a:ext cx="621792" cy="621792"/>
          </a:xfrm>
          <a:prstGeom prst="ellipse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18520" y="539496"/>
            <a:ext cx="237744" cy="237744"/>
          </a:xfrm>
          <a:prstGeom prst="ellipse">
            <a:avLst/>
          </a:prstGeom>
          <a:solidFill>
            <a:srgbClr val="120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86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20700"/>
                </a:solidFill>
                <a:latin typeface="Segoe UI"/>
              </a:rPr>
              <a:t>29/04 (TER)  —  AKIHABARA &amp; ROLEE LIVRE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Missao livre — cada ninja escolhe seu caminho!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1609344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🎮  Akihabara Electric Town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Paraiso otaku: games retro, figures, mangás e eletrônicos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450592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77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🃏  Yodobashi Akiba / Mandarake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Busca pelos colecionaveis que faltaram — ultima chance!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291840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186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🕹️  Arcades de vários andares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Taiko no Tatsujin, maquinas de claw, UFO catchers e mais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133088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5993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👘  Maid Cafés (opcional)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Experiencia cultural única — maids cantando e servindo cafe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974336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90118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🗓️  Rolê livre em grupo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Qualquer canto que todo mundo queira visitar — vocês decidem!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815584"/>
            <a:ext cx="9144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7424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🛍️  Compras de ultima hora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B2"/>
                </a:solidFill>
                <a:latin typeface="Segoe UI"/>
              </a:rPr>
              <a:t>Don Quijote, combinis, souvenirs — ultima chance de encher a mala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0700"/>
                </a:solidFill>
                <a:latin typeface="Segoe UI"/>
              </a:rPr>
              <a:t>Ultimo dia em Tokyo — absorva cada segundo, dattebayo!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172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88952" cy="617220"/>
          </a:xfrm>
          <a:prstGeom prst="rect">
            <a:avLst/>
          </a:prstGeom>
          <a:solidFill>
            <a:srgbClr val="02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17220"/>
          </a:xfrm>
          <a:prstGeom prst="rect">
            <a:avLst/>
          </a:prstGeom>
          <a:solidFill>
            <a:srgbClr val="042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88952" cy="617220"/>
          </a:xfrm>
          <a:prstGeom prst="rect">
            <a:avLst/>
          </a:prstGeom>
          <a:solidFill>
            <a:srgbClr val="06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17220"/>
          </a:xfrm>
          <a:prstGeom prst="rect">
            <a:avLst/>
          </a:prstGeom>
          <a:solidFill>
            <a:srgbClr val="08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88952" cy="617220"/>
          </a:xfrm>
          <a:prstGeom prst="rect">
            <a:avLst/>
          </a:prstGeom>
          <a:solidFill>
            <a:srgbClr val="0A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88952" cy="617220"/>
          </a:xfrm>
          <a:prstGeom prst="rect">
            <a:avLst/>
          </a:prstGeom>
          <a:solidFill>
            <a:srgbClr val="0C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88952" cy="617220"/>
          </a:xfrm>
          <a:prstGeom prst="rect">
            <a:avLst/>
          </a:prstGeom>
          <a:solidFill>
            <a:srgbClr val="0E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88952" cy="617220"/>
          </a:xfrm>
          <a:prstGeom prst="rect">
            <a:avLst/>
          </a:prstGeom>
          <a:solidFill>
            <a:srgbClr val="10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88952" cy="617220"/>
          </a:xfrm>
          <a:prstGeom prst="rect">
            <a:avLst/>
          </a:prstGeom>
          <a:solidFill>
            <a:srgbClr val="12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88952" cy="617220"/>
          </a:xfrm>
          <a:prstGeom prst="rect">
            <a:avLst/>
          </a:prstGeom>
          <a:solidFill>
            <a:srgbClr val="14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88952" cy="617220"/>
          </a:xfrm>
          <a:prstGeom prst="rect">
            <a:avLst/>
          </a:prstGeom>
          <a:solidFill>
            <a:srgbClr val="16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9880" y="128016"/>
            <a:ext cx="1060704" cy="1060704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16184" y="274320"/>
            <a:ext cx="768096" cy="768096"/>
          </a:xfrm>
          <a:prstGeom prst="ellipse">
            <a:avLst/>
          </a:prstGeom>
          <a:solidFill>
            <a:srgbClr val="00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7352" y="475488"/>
            <a:ext cx="365760" cy="365760"/>
          </a:xfrm>
          <a:prstGeom prst="ellipse">
            <a:avLst/>
          </a:prstGeom>
          <a:solidFill>
            <a:srgbClr val="B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0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0D0FF"/>
                </a:solidFill>
                <a:latin typeface="Segoe UI"/>
              </a:rPr>
              <a:t>30/04 (QUA)  —  MONTE FUJI • FUJI-Q HIGHLAND  → OSAKA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675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 ponto mais alto do Japão — e depois, velocidade maxima nas montanhas-russas!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627632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🗻  Monte Fuji — 5a Estação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9202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Suba de onibus ate 2.305m — vista gelada e majestosa do vulcao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2468880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🎢  Fuji-Q Highland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761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Parque de diversoes com recordes mundiais: Fujiyama, Eejanaika e Do-Dodonpa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3310128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😱  Montanhas-russas de recorde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027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Algumas das mais radicais do mundo — estomago de aco obrigatorio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151376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599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📸  Vista do Fuji no parque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439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Foto com o Fuji ao fundo nas atrações — impossivel de nao tirar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4992624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9011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🚄  Shinkansen → Osaka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Monte Fuji para Osaka: use o JR Pass no Nozomi ou Hikari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5833872"/>
            <a:ext cx="64008" cy="475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742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🌃  Chegada em Osaka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126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0FF"/>
                </a:solidFill>
                <a:latin typeface="Segoe UI"/>
              </a:rPr>
              <a:t>Check-in no hotel — amanha comeca uma nova aventura na capital do street food!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024"/>
                </a:solidFill>
                <a:latin typeface="Segoe UI"/>
              </a:rPr>
              <a:t>Sayonara, Tokyo!  •  Proximo destino: OSAKA  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C0000"/>
                </a:solidFill>
                <a:latin typeface="Segoe UI"/>
              </a:rPr>
              <a:t>⚡  DICAS ESSENCIAIS — Treinador Preparado!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Dinheiro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ATMs do 7-Eleven e Japão Post aceitam cartao estrangeiro — saque ienes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9903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Pocket Wi-Fi no aeroporto ou chip local (IIJmio) — essencial para o 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15768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1576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Suica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8152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Cartao recarregavel para trem, metro, onibus e combinis — vida mais facil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15768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71576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🎟️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9748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JR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8152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7 dias de trem livre — vale muito para Kyoto e Osaka no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14215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1421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95927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Calcado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79975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Tenis confortavel — 15.000+ passos por dia sao garantidos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14215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01421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995927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Bagagem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79975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Servico Takuhaibin: mande as malas para o hotel por ¥1.500 — liberdade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12664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1266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943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Apps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7842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Google Maps, Google Translate (camera), Hyperdia, Tokyo Subway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312664"/>
            <a:ext cx="530352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31266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2943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Saude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67842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080"/>
                </a:solidFill>
                <a:latin typeface="Segoe UI"/>
              </a:rPr>
              <a:t>Leve seguro viagem ativo — farmácias japonesas (薬局 Yakkyoku) sao excelentes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Segoe UI"/>
              </a:rPr>
              <a:t>Preparado como Ash antes de entrar na Liga Pokemon!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A0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731520"/>
          </a:xfrm>
          <a:prstGeom prst="rect">
            <a:avLst/>
          </a:prstGeom>
          <a:solidFill>
            <a:srgbClr val="0D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solidFill>
            <a:srgbClr val="100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12188952" cy="731520"/>
          </a:xfrm>
          <a:prstGeom prst="rect">
            <a:avLst/>
          </a:prstGeom>
          <a:solidFill>
            <a:srgbClr val="13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solidFill>
            <a:srgbClr val="160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solidFill>
            <a:srgbClr val="190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solidFill>
            <a:srgbClr val="1C0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12188952" cy="731520"/>
          </a:xfrm>
          <a:prstGeom prst="rect">
            <a:avLst/>
          </a:prstGeom>
          <a:solidFill>
            <a:srgbClr val="1F0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220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731520"/>
          </a:xfrm>
          <a:prstGeom prst="rect">
            <a:avLst/>
          </a:prstGeom>
          <a:solidFill>
            <a:srgbClr val="250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" y="0"/>
            <a:ext cx="228600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0"/>
            <a:ext cx="228600" cy="6858000"/>
          </a:xfrm>
          <a:prstGeom prst="rect">
            <a:avLst/>
          </a:prstGeom>
          <a:solidFill>
            <a:srgbClr val="00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" y="0"/>
            <a:ext cx="228600" cy="6858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02952" y="457200"/>
            <a:ext cx="1828800" cy="18288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58984" y="713232"/>
            <a:ext cx="1316736" cy="1316736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96728" y="950976"/>
            <a:ext cx="841248" cy="841248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16184" y="11704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0C4DE"/>
                </a:solidFill>
                <a:latin typeface="Segoe UI"/>
              </a:rPr>
              <a:t>SAYONARA &amp;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03070"/>
                </a:solidFill>
                <a:latin typeface="Segoe UI"/>
              </a:rPr>
              <a:t>ARIGATOU,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06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Segoe UI"/>
              </a:rPr>
              <a:t>TOKYO!  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77639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700"/>
                </a:solidFill>
                <a:latin typeface="Segoe UI"/>
              </a:rPr>
              <a:t>⚡  "Gotta catch 'em all!"  — 9 dias de aventura Pokemon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26279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6B00"/>
                </a:solidFill>
                <a:latin typeface="Segoe UI"/>
              </a:rPr>
              <a:t>🍥  "Acredite no seu jeito ninja de viajar!"  — Naruto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74920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E93D8"/>
                </a:solidFill>
                <a:latin typeface="Segoe UI"/>
              </a:rPr>
              <a:t>🩸  "Domínio Expandido: Memorias eternas de Tokyo"  — JJK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23559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700"/>
                </a:solidFill>
                <a:latin typeface="Segoe UI"/>
              </a:rPr>
              <a:t>🏰  "The most magical trip on Earth"  — Disney + Fuji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518"/>
                </a:solidFill>
                <a:latin typeface="Segoe UI"/>
              </a:rPr>
              <a:t>22/04 → 30/04  •  Uma aventura que comeca com planejamento e termina com memorias para a vida  ✈️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